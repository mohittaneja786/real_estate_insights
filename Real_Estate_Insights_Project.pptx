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29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50876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246888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342900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438912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5349240"/>
            <a:ext cx="54864" cy="548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Insights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Medallion Architecture on Databricks — ELT, Automated CDC, and CI/CD with Lakeflow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Catalog:  </a:t>
            </a: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real_estate_dev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Repo:  </a:t>
            </a: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github.com/mohittaneja786/real_estate_insights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Taneja  |  Data Engineer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synthetic, production-shaped real estate dataset — raw source data generated with Claude AI — used to build a real Databricks data engineering pipeline from scratch: ingestion, CDC, cleansing, aggregation, orchestration, and CI/CD.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property, agent, location &amp; transaction data generated via Claude AI — full load + 60 days of incremental CDC files.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on Databricks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lands as-is, then is transformed inside Databricks using PySpark + Delta Lake — not transformed before load.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 → Silver (cleansed &amp; merged) → Gold (business aggregates), fully modeled in Unity Catalog.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3832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09760" y="38862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branch → Git → main → Databricks, orchestrated end-to-end with a scheduled Lakeflow Job. No manual steps.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+ Medallion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E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3246120" cy="594360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423160"/>
            <a:ext cx="32461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305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parent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agents, locations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properties_full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sales_transactions_full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properties_cdc (Auto Loader)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sales_transactions_cdc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67328" y="3429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E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103120"/>
            <a:ext cx="3246120" cy="594360"/>
          </a:xfrm>
          <a:prstGeom prst="roundRect">
            <a:avLst>
              <a:gd name="adj" fmla="val 15385"/>
            </a:avLst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423160"/>
            <a:ext cx="3246120" cy="274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1305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51960" y="27614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&amp; merged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properties (MERGE INTO CDC)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sales_transactions (merged)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properties_cleansed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properties_quarantine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dedup + validation rules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16368" y="3429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001000" y="21031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E30"/>
          </a:solidFill>
          <a:ln w="19050">
            <a:solidFill>
              <a:srgbClr val="7EE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103120"/>
            <a:ext cx="3246120" cy="594360"/>
          </a:xfrm>
          <a:prstGeom prst="roundRect">
            <a:avLst>
              <a:gd name="adj" fmla="val 15385"/>
            </a:avLst>
          </a:prstGeom>
          <a:solidFill>
            <a:srgbClr val="7EE0C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2423160"/>
            <a:ext cx="3246120" cy="274320"/>
          </a:xfrm>
          <a:prstGeom prst="rect">
            <a:avLst/>
          </a:prstGeom>
          <a:solidFill>
            <a:srgbClr val="7EE0C8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1305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01000" y="27614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E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aggregates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75320" y="32461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price_trends_by_location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agent_performance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3F6FB"/>
                </a:solidFill>
              </a:rPr>
              <a:t>feeds dashboard directly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approach: raw files are loaded into Bronze exactly as received (Extract → Load), and every transformation — cleansing, deduplication, CDC merge, aggregation — happens afterward inside Databricks (→ Transform).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Git → Main → Databricks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1540" y="2606040"/>
            <a:ext cx="0" cy="338328"/>
          </a:xfrm>
          <a:prstGeom prst="line">
            <a:avLst/>
          </a:prstGeom>
          <a:noFill/>
          <a:ln w="25400">
            <a:solidFill>
              <a:srgbClr val="2C3B5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417320" y="2075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 Dev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63440" y="207568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authored &amp; tested in the dev workspace / dev branch against real_estate_dev catalog.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" y="3447288"/>
            <a:ext cx="0" cy="338328"/>
          </a:xfrm>
          <a:prstGeom prst="line">
            <a:avLst/>
          </a:prstGeom>
          <a:noFill/>
          <a:ln w="25400">
            <a:solidFill>
              <a:srgbClr val="2C3B5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417320" y="29169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dev branch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916936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committed and pushed to the dev branch on GitHub for review.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" y="4288536"/>
            <a:ext cx="0" cy="338328"/>
          </a:xfrm>
          <a:prstGeom prst="line">
            <a:avLst/>
          </a:prstGeom>
          <a:noFill/>
          <a:ln w="25400">
            <a:solidFill>
              <a:srgbClr val="2C3B5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417320" y="37581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375818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reviewed and merged from dev into main — main is the source of truth.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26864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1540" y="5129784"/>
            <a:ext cx="0" cy="338328"/>
          </a:xfrm>
          <a:prstGeom prst="line">
            <a:avLst/>
          </a:prstGeom>
          <a:noFill/>
          <a:ln w="25400">
            <a:solidFill>
              <a:srgbClr val="2C3B5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417320" y="4599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into prod Databricks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4599432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Repos pulls main into the production workspace — code promoted, no manual copy-paste.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6811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68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440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Job runs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63440" y="5440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 executes the notebooks in main automatically — Bronze → Silver → Gold.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full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00_setup.ipynb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86400" cy="1920240"/>
          </a:xfrm>
          <a:prstGeom prst="roundRect">
            <a:avLst>
              <a:gd name="adj" fmla="val 4706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spark.sql("CREATE CATALOG IF NOT EXISTS real_estate_dev")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spark.sql("CREATE SCHEMA IF NOT EXISTS real_estate_dev.bronze")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spark.sql("CREATE SCHEMA IF NOT EXISTS real_estate_dev.silver")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spark.sql("CREATE SCHEMA IF NOT EXISTS real_estate_dev.gold")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spark.sql("CREATE VOLUME IF NOT EXISTS real_estate_dev.bronze.vl_real_estate")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01_bronze_full_load.ipynb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4572000"/>
          </a:xfrm>
          <a:prstGeom prst="roundRect">
            <a:avLst>
              <a:gd name="adj" fmla="val 2667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50292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"/Volumes/real_estate_dev/bronze/vl_real_estate"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load_full(path_glob, table_name):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 = (spark.read.option("header", True)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.option("inferSchema", True)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.csv(path_glob)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.select("*", "_metadata.file_name",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"_metadata.file_size"))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df.write.mode("overwrite").format("delta")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.option("overwriteSchema", True)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.saveAsTable(f"real_estate_dev.bronze.{table_name}")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050" dirty="0">
              <a:solidFill>
                <a:srgbClr val="C8D6E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load_full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(f"{base}/full_load/agents_full_load.csv", "agents")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load_full(f"{base}/full_load/locations_full_load.csv", "locations")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load_full(f"{base}/full_load/properties_full_load_part*.csv",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"properties_full")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load_full(f"{base}/full_load/sales_transactions_full_load_part*.csv",
 "sales_transactions_full")
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is the parent data — loaded exactly as received (ELT), tagged with source file 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 lineage.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ingestion (Auto Loader)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02_bronze_incremental_autoloader.ipynb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6949440" cy="3794760"/>
          </a:xfrm>
          <a:prstGeom prst="roundRect">
            <a:avLst>
              <a:gd name="adj" fmla="val 1928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6583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autoload_cdc(subfolder_glob, schema_hint_name, table_name):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(spark.readStream.format("cloudFiles")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.option("cloudFiles.format", "csv") .option("header", True)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cloudFiles.schemaLocation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f"{base}/_schema/{schema_hint_name}")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.load(f"{base}/incremental/{subfolder_glob}")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.withColumn("_source_file", F.col("_metadata.file_path"))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.withColumn("_ingested_at", F.current_timestamp())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.writeStream.format("delta").option("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checkpointLocation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      f"{base}/_checkpoints/{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schema_hint_name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}").trigger(availableNow=True)  # picks up new files, then 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stops.toTable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(f"real_estate_dev.bronze.{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}").awaitTermination())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autoload_cdc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("properties_incremental_*.csv","properties_cdc", "properties_cdc")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autoload_cdc("sales_transactions_incremental_*.csv","sales_transactions_cdc", "sales_transactions_cdc")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35240" y="187452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processed files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24688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After ingestion, source files that were successfully loaded are copied into an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Incremental_Processed/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 folder in the volume — a simple audit trail of what's already been ingested, without deleting the originals.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35240" y="3977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411480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target_dir = (base +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"/Incremental_Processed/")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</a:t>
            </a:r>
            <a:r>
              <a:rPr lang="en-US" sz="9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target_dir</a:t>
            </a: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exist_ok</a:t>
            </a: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=True)
for f in processed_files: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shutil.copy(f, target_dir)
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merge (INSERT / UPDATE / DELETE)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03_silver_merge_cdc.ipynb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6492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Seed Silver from the full load (first run only)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spark.sql("""CREATE TABLE IF NOT EXISTS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real_estate_dev.silver.properties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SELECT * FROM real_estate_dev.bronze.properties_full""")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Window.partitionBy("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property_id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").orderBy(F.col("cdc_timestamp").desc())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cdc_latest = (cdc_df.withColumn("rn", F.row_number().over(w)).filter("rn = 1").drop("rn"))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silver_tbl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DeltaTable.forName(spark, "real_estate_dev.silver.properties")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(silver_tbl.alias("t").merge(cdc_latest.alias("s"), "t.property_id = s.property_id")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.whenMatchedDelete(condition="s.operation_type = 'DELETE'")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.whenMatchedUpdateAll(condition="s.operation_type = 'UPDATE'")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.whenNotMatchedInsertAll(condition="s.operation_type = 'INSERT'")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.execute())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43800" y="18745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sales_transactions merge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INSERT-only (never mutated once created), so a simple append-merge is enough: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43800" y="3108960"/>
            <a:ext cx="4114800" cy="2880360"/>
          </a:xfrm>
          <a:prstGeom prst="roundRect">
            <a:avLst>
              <a:gd name="adj" fmla="val 2540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24612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txn_tbl = DeltaTable.forName(spark,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"real_estate_dev.silver.sales_transactions")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(txn_tbl.alias("t")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.merge(txn_cdc.alias("s"),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"t.transaction_id =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s.transaction_id")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.whenNotMatchedInsertAll()
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.execute())
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 rules for dirty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04_silver_cleanse_dirty_data.ipynb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4572000"/>
          </a:xfrm>
          <a:prstGeom prst="roundRect">
            <a:avLst>
              <a:gd name="adj" fmla="val 1702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(dirty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trim whitespace + standardize property_type casing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.withColumn("property_type", F.trim(F.col("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property_type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")))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.withColumn("property_type", F.upper(F.col("property_type")))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.withColumn("property_type", F.regexp_replace("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property_type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"SFH|SINGLE-FAMILY|SINGLE FAMILY", "SINGLE FAMILY"))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.withColumn("property_type", F.initcap(F.col("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property_type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strip $ and , from price/fee columns, cast to double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.withColumn("listing_price", 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F.regexp_replace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F.col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("listing_price"), "[$,]", "").cast("double"))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.withColumn("hoa_fee", 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F.regexp_replace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F.col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("hoa_fee"), "[$,]", "").cast("double"))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normalize mixed booleans (Yes/Y/1/True -&gt; True, etc.)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.withColumn("has_pool", F.when(F.upper(F.col("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has_pool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  .isin("YES","Y","1","TRUE"), True)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.when(F.upper(F.col("has_pool")).isin("NO","N","0","FALSE"), False).otherwise(None))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parse mixed date formats (ISO / MM-DD-YYYY / DD-Mon-YYYY)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.withColumn("list_date", 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F.coalesce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F.try_to_date("list_date", "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-MM-dd"), F.try_to_date("list_date", "MM/dd/</a:t>
            </a:r>
            <a:r>
              <a:rPr lang="en-US" sz="105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F.try_to_date("list_date", "dd-MMM-yyyy"))))
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quarantine &amp; final 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04_silver_cleanse_dirty_data.ipynb (cont.)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4297680"/>
          </a:xfrm>
          <a:prstGeom prst="roundRect">
            <a:avLst>
              <a:gd name="adj" fmla="val 1702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impute nulls: type-aware defaults, e.g. bathrooms by property_type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.withColumn("bathrooms", F.when(F.col("bathrooms").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F.when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(F.col("property_type") == "Single Family", F.lit(1.0)) .when(F.col("property_type") == "Land", F.lit(0.0)).otherwise(F.col("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avg_bathrooms_by_type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"))).otherwise(F.col("bathrooms")))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quarantine rows that fail basic validity rules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= 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cleaned_with_date.filter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 F.col("listing_price").isNull() | (F.col("listing_price") &lt;= 0) | 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F.col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("bedrooms").isNull() | (F.col("bedrooms").cast("double") &lt; 0) | (F.col("year_built").cast("double") &gt; 2026) | F.col("list_date").isNull())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cleaned_with_date.subtract(bad)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rows with orphaned foreign keys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(good.join(valid_agents, "agent_id", "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left_semi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").join(valid_locations, "location_id", "left_semi"))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de-duplicate on property_id, keep most recently updated row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good.withColumn("rn", w).filter("rn = 1").drop("rn")
</a:t>
            </a:r>
            <a:r>
              <a:rPr lang="en-US" sz="10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good.write.mode</a:t>
            </a: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("overwrite").format("delta")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.saveAsTable("real_estate_dev.silver.properties_cleansed")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bad.write.mode("overwrite").format("delta”)  .saveAsTable("real_estate_dev.silver.properties_quarantine")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E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—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aggregates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05_gold_aggregates.ipynb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2148840"/>
          </a:xfrm>
          <a:prstGeom prst="roundRect">
            <a:avLst>
              <a:gd name="adj" fmla="val 3404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10789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Properties sold by location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TABLE real_estate_dev.gold.price_trends_by_location AS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l.city, l.state, </a:t>
            </a:r>
            <a:r>
              <a:rPr lang="en-US" sz="1100" dirty="0" err="1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p.property_type,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date_trunc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('month', p.sold_date)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sold_month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percentile_approx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(p.sold_price, 0.5)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median_sold_price,count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homes_sold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</a:t>
            </a: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ROM real_estate_dev.silver.properties p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real_estate_dev.bronze.locations l ON p.location_id = </a:t>
            </a:r>
            <a:r>
              <a:rPr lang="en-US" sz="1100" dirty="0" err="1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l.location_id</a:t>
            </a: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p.status = 'Sold'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1,2,3,4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11155680" cy="2011680"/>
          </a:xfrm>
          <a:prstGeom prst="roundRect">
            <a:avLst>
              <a:gd name="adj" fmla="val 3636"/>
            </a:avLst>
          </a:prstGeom>
          <a:solidFill>
            <a:srgbClr val="0F1826"/>
          </a:solidFill>
          <a:ln w="12700">
            <a:solidFill>
              <a:srgbClr val="243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29768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Agent performance (completed transactions)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TABLE real_estate_dev.gold.agent_performance AS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a.agent_id, a.first_name, a.last_name, </a:t>
            </a:r>
            <a:r>
              <a:rPr lang="en-US" sz="1100" dirty="0" err="1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a.agency_name</a:t>
            </a: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count(t.transaction_id)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deals_closed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sum(t.commission_amount)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total_commission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avg(t.sale_price) AS </a:t>
            </a:r>
            <a:r>
              <a:rPr lang="en-US" sz="1100" dirty="0" err="1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avg_sale_price</a:t>
            </a: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real_estate_dev.silver.sales_transactions t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real_estate_dev.bronze.agents a ON t.seller_agent_id = a.agent_id
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t.transaction_status = 'Completed’ GROUP BY 1,2,3,4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real_estate_dev catalog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291840" cy="47548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22314A"/>
            </a:solidFill>
            <a:prstDash val="solid"/>
          </a:ln>
        </p:spPr>
      </p:sp>
      <p:pic>
        <p:nvPicPr>
          <p:cNvPr id="5" name="Image 0" descr="images/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1645920"/>
            <a:ext cx="16002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645920"/>
            <a:ext cx="7543800" cy="1417320"/>
          </a:xfrm>
          <a:prstGeom prst="roundRect">
            <a:avLst>
              <a:gd name="adj" fmla="val 5161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 (6 tables + 1 volume)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43400" y="21945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locations, properties_full, properties_cdc, sales_transactions_full, sales_transactions_cdc, and the vl_real_estate volume holding raw files.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3246120"/>
            <a:ext cx="7543800" cy="1417320"/>
          </a:xfrm>
          <a:prstGeom prst="roundRect">
            <a:avLst>
              <a:gd name="adj" fmla="val 5161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3383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(4 tables)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43400" y="37947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properties_cleansed, properties_quarantine, sales_transactions — the merged, validated layer.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0" y="4846320"/>
            <a:ext cx="7543800" cy="1417320"/>
          </a:xfrm>
          <a:prstGeom prst="roundRect">
            <a:avLst>
              <a:gd name="adj" fmla="val 5161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4983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(2 tables)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43400" y="53949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agent_performance, price_trends_by_location — ready for BI / dashboarding.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Lakeflow Job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22314A"/>
            </a:solidFill>
            <a:prstDash val="solid"/>
          </a:ln>
        </p:spPr>
      </p:sp>
      <p:pic>
        <p:nvPicPr>
          <p:cNvPr id="5" name="Image 0" descr="image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108813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6FB"/>
                </a:solidFill>
              </a:rPr>
              <a:t>5-step job: </a:t>
            </a:r>
            <a:r>
              <a:rPr lang="en-US" sz="1250" dirty="0">
                <a:solidFill>
                  <a:srgbClr val="94A3B8"/>
                </a:solidFill>
              </a:rPr>
              <a:t>00_setup → 02_incremental_autoloader → 03_merge_cdc → 04_cleanse_dirty_data → 05_gold_layer, run serverless end-to-end in 2m 8s.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52578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whenever new incremental files land in the volume — Bronze, Silver, and Gold all rebuild with zero manual steps. Combined with the dev → main Git flow (slide 4), this is a complete CI/CD pipeline: code changes are promoted through Git, and data changes are promoted through this Lakeflow job.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Property Analytics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22314A"/>
            </a:solidFill>
            <a:prstDash val="solid"/>
          </a:ln>
        </p:spPr>
      </p:sp>
      <p:pic>
        <p:nvPicPr>
          <p:cNvPr id="5" name="Image 0" descr="image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36192"/>
            <a:ext cx="10917936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537.44K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5852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properties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7472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$581K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0" y="5852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listing price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7220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72200" y="5852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properties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6968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69680" y="5852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on market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55648"/>
            <a:ext cx="109728" cy="877824"/>
          </a:xfrm>
          <a:prstGeom prst="round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007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engineering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203911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Synthetic-but-realistic source data (Claude AI) — full load + 60 days of daily CDC files, sized like a real production feed.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55648"/>
            <a:ext cx="109728" cy="877824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007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+ Medallion on Databricks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203911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entirely inside Databricks using PySpark, Delta Lake, Auto Loader, and MERGE INTO.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264408"/>
            <a:ext cx="109728" cy="877824"/>
          </a:xfrm>
          <a:prstGeom prst="round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95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5478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dirty-data handling: type coercion, boolean/date normalization, imputation, orphan-key checks, dedup, and quarantine — not just happy-path code.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264408"/>
            <a:ext cx="109728" cy="877824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2095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5120" y="35478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Lakeflow Job runs the entire pipeline end-to-end on a schedule — no manual steps from raw file to Gold table.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4773168"/>
            <a:ext cx="109728" cy="877824"/>
          </a:xfrm>
          <a:prstGeom prst="round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718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Git-driven CI/CD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50566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branch → PR → main → Databricks Repos pull, so code promotion is auditable and repeatable.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41E30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773168"/>
            <a:ext cx="109728" cy="877824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718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BI-ready output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75120" y="50566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 (price_trends_by_location, agent_performance) feed a live Databricks dashboard.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Repo:  </a:t>
            </a: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github.com/mohittaneja786/real_estate_insights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Catalog:  </a:t>
            </a: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real_estate_dev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2949</Words>
  <Application>Microsoft Office PowerPoint</Application>
  <PresentationFormat>Widescreen</PresentationFormat>
  <Paragraphs>249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 Taneja</cp:lastModifiedBy>
  <cp:revision>5</cp:revision>
  <dcterms:created xsi:type="dcterms:W3CDTF">2026-07-10T10:14:06Z</dcterms:created>
  <dcterms:modified xsi:type="dcterms:W3CDTF">2026-07-10T10:35:49Z</dcterms:modified>
</cp:coreProperties>
</file>